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3716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API-Tests – Road Overview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66928" y="3154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&amp; Postman-Showcase · json-server Backend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76072" y="49560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37560" y="4206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364992" y="49560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126480" y="4206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153912" y="49560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915400" y="4206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74C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942832" y="49560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= bekannte Defekte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E8C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Newman-verifiziert gegen json-server@0.17.4 · Soll-Assertions, Defekte bewusst rot · self-cleaning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Vorgehen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Ist-Verhalten real beobachtet – Assertions prüfen das Soll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002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1581912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 gestartet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1984248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json-server@0.17.4 als isolierte Instanz – identisch zur SUT-Version (Docker-pinned).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770632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77063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554480" y="2752344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Empirisch beobachtet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Fall per curl gefahren: Statuscode, Header, Body, Fehlerverhalten.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941064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4106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554480" y="3922776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Soll-Assertions geschrieben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4325112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pm.test prüft das korrekte Verhalten; Abweichungen als [DEFECT #n] markiert.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111496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1114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554480" y="5093208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Verifiziert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5495544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Newman: 32 Requests / 77 Assertions / 5 rot = bekannte Defekte. Self-cleaning bestätigt.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086600" y="1600200"/>
            <a:ext cx="457200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60920" y="18288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Abdeckung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60920" y="2286000"/>
            <a:ext cx="40690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/roads – Schema, Limitationen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/todos – Schema, Einzel-ID, 404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· Operatoren · Volltext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Sortierung · Pagination · Slice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/todos – Happy Path (self-clean)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/todos – Negativ &amp; Edge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 PATCH / DELETE (undokumentiert)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Fehler-Routen · Methoden · CORS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 – Überblick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Schweregrad priorisiert · rechts: Status im Newman-Lauf ([DEFECT #n] = bewusst rot)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585216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00200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17320" y="1600200"/>
            <a:ext cx="6583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/roads überschreibt komplette FeatureCollection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092440" y="1600200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 (destruktiv)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0104120" y="173736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10104120" y="17373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Kritisch</a:t>
            </a:r>
            <a:endParaRPr lang="en-US" sz="1100" dirty="0"/>
          </a:p>
        </p:txBody>
      </p:sp>
      <p:sp>
        <p:nvSpPr>
          <p:cNvPr id="10" name="Shape 2"/>
          <p:cNvSpPr/>
          <p:nvPr/>
        </p:nvSpPr>
        <p:spPr>
          <a:xfrm>
            <a:off x="548640" y="2276856"/>
            <a:ext cx="11064240" cy="585216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11" name="Text 3"/>
          <p:cNvSpPr/>
          <p:nvPr/>
        </p:nvSpPr>
        <p:spPr>
          <a:xfrm>
            <a:off x="713232" y="2276856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4"/>
          <p:cNvSpPr/>
          <p:nvPr/>
        </p:nvSpPr>
        <p:spPr>
          <a:xfrm>
            <a:off x="1417320" y="2276856"/>
            <a:ext cx="6583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/todos ohne jede Eingabevalidierung</a:t>
            </a:r>
            <a:endParaRPr lang="en-US" sz="1550" dirty="0"/>
          </a:p>
        </p:txBody>
      </p:sp>
      <p:sp>
        <p:nvSpPr>
          <p:cNvPr id="13" name="Text 4"/>
          <p:cNvSpPr/>
          <p:nvPr/>
        </p:nvSpPr>
        <p:spPr>
          <a:xfrm>
            <a:off x="8092440" y="2276856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rot</a:t>
            </a:r>
            <a:endParaRPr lang="en-US" sz="1100" dirty="0"/>
          </a:p>
        </p:txBody>
      </p:sp>
      <p:sp>
        <p:nvSpPr>
          <p:cNvPr id="14" name="Shape 5"/>
          <p:cNvSpPr/>
          <p:nvPr/>
        </p:nvSpPr>
        <p:spPr>
          <a:xfrm>
            <a:off x="10104120" y="2414016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15" name="Text 6"/>
          <p:cNvSpPr/>
          <p:nvPr/>
        </p:nvSpPr>
        <p:spPr>
          <a:xfrm>
            <a:off x="10104120" y="241401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Hoch</a:t>
            </a:r>
            <a:endParaRPr lang="en-US" sz="1100" dirty="0"/>
          </a:p>
        </p:txBody>
      </p:sp>
      <p:sp>
        <p:nvSpPr>
          <p:cNvPr id="16" name="Shape 2"/>
          <p:cNvSpPr/>
          <p:nvPr/>
        </p:nvSpPr>
        <p:spPr>
          <a:xfrm>
            <a:off x="548640" y="2953512"/>
            <a:ext cx="11064240" cy="585216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17" name="Text 3"/>
          <p:cNvSpPr/>
          <p:nvPr/>
        </p:nvSpPr>
        <p:spPr>
          <a:xfrm>
            <a:off x="713232" y="2953512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C4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4"/>
          <p:cNvSpPr/>
          <p:nvPr/>
        </p:nvSpPr>
        <p:spPr>
          <a:xfrm>
            <a:off x="1417320" y="2953512"/>
            <a:ext cx="6583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erlaubt jede Origin (inkl. Credentials)</a:t>
            </a:r>
            <a:endParaRPr lang="en-US" sz="1550" dirty="0"/>
          </a:p>
        </p:txBody>
      </p:sp>
      <p:sp>
        <p:nvSpPr>
          <p:cNvPr id="19" name="Text 4"/>
          <p:cNvSpPr/>
          <p:nvPr/>
        </p:nvSpPr>
        <p:spPr>
          <a:xfrm>
            <a:off x="8092440" y="2953512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rot</a:t>
            </a:r>
            <a:endParaRPr lang="en-US" sz="1100" dirty="0"/>
          </a:p>
        </p:txBody>
      </p:sp>
      <p:sp>
        <p:nvSpPr>
          <p:cNvPr id="20" name="Shape 5"/>
          <p:cNvSpPr/>
          <p:nvPr/>
        </p:nvSpPr>
        <p:spPr>
          <a:xfrm>
            <a:off x="10104120" y="309067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/>
        </p:spPr>
      </p:sp>
      <p:sp>
        <p:nvSpPr>
          <p:cNvPr id="21" name="Text 6"/>
          <p:cNvSpPr/>
          <p:nvPr/>
        </p:nvSpPr>
        <p:spPr>
          <a:xfrm>
            <a:off x="10104120" y="309067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</a:t>
            </a:r>
            <a:endParaRPr lang="en-US" sz="1100" dirty="0"/>
          </a:p>
        </p:txBody>
      </p:sp>
      <p:sp>
        <p:nvSpPr>
          <p:cNvPr id="22" name="Shape 2"/>
          <p:cNvSpPr/>
          <p:nvPr/>
        </p:nvSpPr>
        <p:spPr>
          <a:xfrm>
            <a:off x="548640" y="3630168"/>
            <a:ext cx="11064240" cy="585216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23" name="Text 3"/>
          <p:cNvSpPr/>
          <p:nvPr/>
        </p:nvSpPr>
        <p:spPr>
          <a:xfrm>
            <a:off x="713232" y="3630168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C4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4"/>
          <p:cNvSpPr/>
          <p:nvPr/>
        </p:nvSpPr>
        <p:spPr>
          <a:xfrm>
            <a:off x="1417320" y="3630168"/>
            <a:ext cx="6583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Falscher Content-Type → Body still verworfen</a:t>
            </a:r>
            <a:endParaRPr lang="en-US" sz="1550" dirty="0"/>
          </a:p>
        </p:txBody>
      </p:sp>
      <p:sp>
        <p:nvSpPr>
          <p:cNvPr id="25" name="Text 4"/>
          <p:cNvSpPr/>
          <p:nvPr/>
        </p:nvSpPr>
        <p:spPr>
          <a:xfrm>
            <a:off x="8092440" y="3630168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rot</a:t>
            </a:r>
            <a:endParaRPr lang="en-US" sz="1100" dirty="0"/>
          </a:p>
        </p:txBody>
      </p:sp>
      <p:sp>
        <p:nvSpPr>
          <p:cNvPr id="26" name="Shape 5"/>
          <p:cNvSpPr/>
          <p:nvPr/>
        </p:nvSpPr>
        <p:spPr>
          <a:xfrm>
            <a:off x="10104120" y="376732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/>
        </p:spPr>
      </p:sp>
      <p:sp>
        <p:nvSpPr>
          <p:cNvPr id="27" name="Text 6"/>
          <p:cNvSpPr/>
          <p:nvPr/>
        </p:nvSpPr>
        <p:spPr>
          <a:xfrm>
            <a:off x="10104120" y="37673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</a:t>
            </a:r>
            <a:endParaRPr lang="en-US" sz="1100" dirty="0"/>
          </a:p>
        </p:txBody>
      </p:sp>
      <p:sp>
        <p:nvSpPr>
          <p:cNvPr id="28" name="Shape 2"/>
          <p:cNvSpPr/>
          <p:nvPr/>
        </p:nvSpPr>
        <p:spPr>
          <a:xfrm>
            <a:off x="548640" y="4306824"/>
            <a:ext cx="11064240" cy="585216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29" name="Text 3"/>
          <p:cNvSpPr/>
          <p:nvPr/>
        </p:nvSpPr>
        <p:spPr>
          <a:xfrm>
            <a:off x="713232" y="4306824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D6D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4"/>
          <p:cNvSpPr/>
          <p:nvPr/>
        </p:nvSpPr>
        <p:spPr>
          <a:xfrm>
            <a:off x="1417320" y="4306824"/>
            <a:ext cx="6583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Schwache Fehlersemantik (500 statt 409, HTML statt JSON)</a:t>
            </a:r>
            <a:endParaRPr lang="en-US" sz="1550" dirty="0"/>
          </a:p>
        </p:txBody>
      </p:sp>
      <p:sp>
        <p:nvSpPr>
          <p:cNvPr id="31" name="Text 4"/>
          <p:cNvSpPr/>
          <p:nvPr/>
        </p:nvSpPr>
        <p:spPr>
          <a:xfrm>
            <a:off x="8092440" y="4306824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rot (2×)</a:t>
            </a:r>
            <a:endParaRPr lang="en-US" sz="1100" dirty="0"/>
          </a:p>
        </p:txBody>
      </p:sp>
      <p:sp>
        <p:nvSpPr>
          <p:cNvPr id="32" name="Shape 5"/>
          <p:cNvSpPr/>
          <p:nvPr/>
        </p:nvSpPr>
        <p:spPr>
          <a:xfrm>
            <a:off x="10104120" y="4443984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5D6D7E"/>
          </a:solidFill>
          <a:ln/>
        </p:spPr>
      </p:sp>
      <p:sp>
        <p:nvSpPr>
          <p:cNvPr id="33" name="Text 6"/>
          <p:cNvSpPr/>
          <p:nvPr/>
        </p:nvSpPr>
        <p:spPr>
          <a:xfrm>
            <a:off x="10104120" y="444398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</a:t>
            </a:r>
            <a:endParaRPr lang="en-US" sz="1100" dirty="0"/>
          </a:p>
        </p:txBody>
      </p:sp>
      <p:sp>
        <p:nvSpPr>
          <p:cNvPr id="34" name="Shape 2"/>
          <p:cNvSpPr/>
          <p:nvPr/>
        </p:nvSpPr>
        <p:spPr>
          <a:xfrm>
            <a:off x="548640" y="4983480"/>
            <a:ext cx="11064240" cy="585216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35" name="Text 3"/>
          <p:cNvSpPr/>
          <p:nvPr/>
        </p:nvSpPr>
        <p:spPr>
          <a:xfrm>
            <a:off x="713232" y="4983480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D6D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Text 4"/>
          <p:cNvSpPr/>
          <p:nvPr/>
        </p:nvSpPr>
        <p:spPr>
          <a:xfrm>
            <a:off x="1417320" y="4983480"/>
            <a:ext cx="6583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 PATCH / DELETE verfügbar, aber undokumentiert</a:t>
            </a:r>
            <a:endParaRPr lang="en-US" sz="1550" dirty="0"/>
          </a:p>
        </p:txBody>
      </p:sp>
      <p:sp>
        <p:nvSpPr>
          <p:cNvPr id="37" name="Text 4"/>
          <p:cNvSpPr/>
          <p:nvPr/>
        </p:nvSpPr>
        <p:spPr>
          <a:xfrm>
            <a:off x="8092440" y="4983480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Doku-Lücke · grün</a:t>
            </a:r>
            <a:endParaRPr lang="en-US" sz="1100" dirty="0"/>
          </a:p>
        </p:txBody>
      </p:sp>
      <p:sp>
        <p:nvSpPr>
          <p:cNvPr id="38" name="Shape 5"/>
          <p:cNvSpPr/>
          <p:nvPr/>
        </p:nvSpPr>
        <p:spPr>
          <a:xfrm>
            <a:off x="10104120" y="512064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5D6D7E"/>
          </a:solidFill>
          <a:ln/>
        </p:spPr>
      </p:sp>
      <p:sp>
        <p:nvSpPr>
          <p:cNvPr id="39" name="Text 6"/>
          <p:cNvSpPr/>
          <p:nvPr/>
        </p:nvSpPr>
        <p:spPr>
          <a:xfrm>
            <a:off x="10104120" y="51206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</a:t>
            </a:r>
            <a:endParaRPr lang="en-US" sz="1100" dirty="0"/>
          </a:p>
        </p:txBody>
      </p:sp>
      <p:sp>
        <p:nvSpPr>
          <p:cNvPr id="40" name="Shape 2"/>
          <p:cNvSpPr/>
          <p:nvPr/>
        </p:nvSpPr>
        <p:spPr>
          <a:xfrm>
            <a:off x="548640" y="5660136"/>
            <a:ext cx="11064240" cy="585216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41" name="Text 3"/>
          <p:cNvSpPr/>
          <p:nvPr/>
        </p:nvSpPr>
        <p:spPr>
          <a:xfrm>
            <a:off x="713232" y="5660136"/>
            <a:ext cx="548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D6D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42" name="Text 4"/>
          <p:cNvSpPr/>
          <p:nvPr/>
        </p:nvSpPr>
        <p:spPr>
          <a:xfrm>
            <a:off x="1417320" y="5660136"/>
            <a:ext cx="6583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/roads: Filter/Sort/Pagination wirkungslos</a:t>
            </a:r>
            <a:endParaRPr lang="en-US" sz="1550" dirty="0"/>
          </a:p>
        </p:txBody>
      </p:sp>
      <p:sp>
        <p:nvSpPr>
          <p:cNvPr id="43" name="Text 4"/>
          <p:cNvSpPr/>
          <p:nvPr/>
        </p:nvSpPr>
        <p:spPr>
          <a:xfrm>
            <a:off x="8092440" y="5660136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Limitierung · grün</a:t>
            </a:r>
            <a:endParaRPr lang="en-US" sz="1100" dirty="0"/>
          </a:p>
        </p:txBody>
      </p:sp>
      <p:sp>
        <p:nvSpPr>
          <p:cNvPr id="44" name="Shape 5"/>
          <p:cNvSpPr/>
          <p:nvPr/>
        </p:nvSpPr>
        <p:spPr>
          <a:xfrm>
            <a:off x="10104120" y="5797296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5D6D7E"/>
          </a:solidFill>
          <a:ln/>
        </p:spPr>
      </p:sp>
      <p:sp>
        <p:nvSpPr>
          <p:cNvPr id="45" name="Text 6"/>
          <p:cNvSpPr/>
          <p:nvPr/>
        </p:nvSpPr>
        <p:spPr>
          <a:xfrm>
            <a:off x="10104120" y="579729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A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#1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0195560" y="5029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10195560" y="5029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KRITISCH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 /roads zerstört alle Straßendaten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22305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8483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Erwartet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395728"/>
            <a:ext cx="5029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 abgelehnt (read-only) – oder, falls Schreiben gewollt, EINE Straße angehängt (201)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4A1F2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208483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Tatsächlich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395728"/>
            <a:ext cx="5029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 – gesamte FeatureCollection überschrieben, alle 773 Straßen weg (kein Append, kein Merge)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1B2340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3538728"/>
            <a:ext cx="1073505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A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773 Straßen verschwinden mit einem einzigen Request: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-H 'Content-Type: application/json'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-d '{"x":1}' http://localhost:3000/roads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201 Created   →   GET /roads liefert danach nur noch {"x":1}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502920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 jeder Vertragsauslegung falsch: entweder ablehnen oder anhängen – niemals alles ersetzen. Kompletter Datenverlust bis API-Neustart, nicht per API wiederherstellbar – daher bewusst NICHT im automatischen Lauf.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#2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0" y="4572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Keine Eingabevalidierung bei POST /todos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6583680" cy="1600200"/>
          </a:xfrm>
          <a:prstGeom prst="roundRect">
            <a:avLst>
              <a:gd name="adj" fmla="val 3429"/>
            </a:avLst>
          </a:prstGeom>
          <a:solidFill>
            <a:srgbClr val="1B2340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892808"/>
            <a:ext cx="625449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-H 'Content-Type: application/json'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-d '{}' http://localhost:3000/todos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201 Created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"id": 12 }        // kein title, kein road_fid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1783080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07808" y="19202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&amp; Test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607808" y="228600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title, kein road_fid – trotzdem 201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road_fid ist Pflichtbezug (Anforderung 7)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[DEFECT #2]: Soll 400 → Test rot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es zählt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" y="416052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 Punkt 7 verlangt Todos mit road_fid-Bezug zur Straße – die DB erzwingt das nicht.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Verwaiste Maßnahmen ohne Straßenbezug landen dauerhaft in der Datenbank.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echte API sollte hier mit 400 Bad Request ablehnen.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#3 &amp; #4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CORS-Konfiguration und Content-Type-Handling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288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2860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CORS erlaubt jede Origin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77240" y="2880360"/>
            <a:ext cx="5029200" cy="1371600"/>
          </a:xfrm>
          <a:prstGeom prst="roundRect">
            <a:avLst>
              <a:gd name="adj" fmla="val 4000"/>
            </a:avLst>
          </a:prstGeom>
          <a:solidFill>
            <a:srgbClr val="1B2340"/>
          </a:solidFill>
          <a:ln/>
        </p:spPr>
      </p:sp>
      <p:sp>
        <p:nvSpPr>
          <p:cNvPr id="9" name="Text 7"/>
          <p:cNvSpPr/>
          <p:nvPr/>
        </p:nvSpPr>
        <p:spPr>
          <a:xfrm>
            <a:off x="941832" y="2990088"/>
            <a:ext cx="470001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OPTIONS /todos (Request-Method: POST)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Origin: http://evil.example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204 · Allow-Origin: http://evil.example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Allow-Credentials: true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443484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Webseite kann per Browser lesen und schreiben – auch POST /roads (#1).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Erwartet: nur App-Origin :5173. [DEFECT #3] → Test rot.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09360" y="160020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18288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18288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37960" y="22860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Content-Type verwirft Body still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37960" y="2926080"/>
            <a:ext cx="48463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· Content-Type: text/plain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4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"title":"x", "road_fid":42 }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Antwort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4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 · { "id": 15 } – Body weg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Erwartet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4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415 Unsupported Media Type / 400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7960" y="51206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still ignoriert, leerer Datensatz entsteht. [DEFECT #4] → Test rot.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#5 &amp; #6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Fehlersemantik und undokumentierte Methoden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5D6D7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288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2860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Schwache Fehlersemantik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50292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Doppelte id → 500 „duplicate id" statt 409 Conflict.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Kaputtes JSON → 400 als HTML-Fehlerseite – Client kann es kaum parsen.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Fehler kommen als text/html statt JSON.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[DEFECT #5]: Soll 409 bzw. JSON-Fehler → 2 Tests rot.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160020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8288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5D6D7E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288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37960" y="22860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Undokumentierte Schreib-Methoden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37960" y="283464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 PATCH / DELETE /todos/:id → 200, funktionieren korrekt.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 nennt nur GET / POST – das Frontend nutzt aber PUT und DELETE.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Doku-Lücke, kein API-Fehler → Tests bleiben grün.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funktioniert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Positiv-Belege – korrekt verifiziert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4767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47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191109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&amp; Operatoren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737360" y="229514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?feld=, _gte, _like – exakt &amp; korrekt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94767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47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360920" y="191109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Volltextsuche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360920" y="229514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?q= durchsucht alle Felder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15468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41071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41071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737360" y="337413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Sortierung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737360" y="375818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_sort / _order aufsteigend &amp; absteigend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315468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41071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341071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360920" y="337413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360920" y="375818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_page / _limit mit X-Total-Count &amp; Link-Header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61772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487375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87375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737360" y="483717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Happy Path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737360" y="522122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201, Location-Header, Auto-Increment-ID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172200" y="461772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87375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487375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7360920" y="483717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7360920" y="522122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App-Origin :5173: Preflight 204, POST erlaubt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Fazit – vor dem Go-Live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280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json-server ist ein Prototyp-Backend – für Produktion fehlen zentrale Garantien.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D2A5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76856"/>
            <a:ext cx="292608" cy="29260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075688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Zugriff absichern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394960" y="1965960"/>
            <a:ext cx="6126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Schreiben auf /roads sperren, CORS auf App-Origin begrenzen (#1, #3).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D2A57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3328416"/>
            <a:ext cx="292608" cy="292608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3127248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Eingaben validieren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394960" y="3017520"/>
            <a:ext cx="6126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Pflichtfelder &amp; Schema serverseitig erzwingen (#2, #4).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4069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D2A57"/>
          </a:solidFill>
          <a:ln/>
        </p:spPr>
      </p:sp>
      <p:sp>
        <p:nvSpPr>
          <p:cNvPr id="13" name="Shape 11"/>
          <p:cNvSpPr/>
          <p:nvPr/>
        </p:nvSpPr>
        <p:spPr>
          <a:xfrm>
            <a:off x="868680" y="4379976"/>
            <a:ext cx="292608" cy="292608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4178808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API-Vertrag klären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94960" y="4069080"/>
            <a:ext cx="6126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Methoden dokumentieren, saubere Statuscodes (#5, #6).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D2A57"/>
          </a:solidFill>
          <a:ln/>
        </p:spPr>
      </p:sp>
      <p:sp>
        <p:nvSpPr>
          <p:cNvPr id="17" name="Shape 15"/>
          <p:cNvSpPr/>
          <p:nvPr/>
        </p:nvSpPr>
        <p:spPr>
          <a:xfrm>
            <a:off x="868680" y="5431536"/>
            <a:ext cx="292608" cy="292608"/>
          </a:xfrm>
          <a:prstGeom prst="ellipse">
            <a:avLst/>
          </a:prstGeom>
          <a:solidFill>
            <a:srgbClr val="5D6D7E"/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0" y="5230368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Skalierung bedenken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94960" y="5120640"/>
            <a:ext cx="6126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Serverseitige Filterung statt Voll-Download von /roads (#7).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2026-09-14T17:23:38Z</dcterms:created>
  <dcterms:modified xsi:type="dcterms:W3CDTF">2026-09-14T17:23:38Z</dcterms:modified>
</cp:coreProperties>
</file>