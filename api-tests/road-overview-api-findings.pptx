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16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  <Relationship Id="rId16" Type="http://schemas.openxmlformats.org/officeDocument/2006/relationships/slide" Target="slides/slide10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3716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C0392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API-Tests – Road Overview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154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&amp; Postman-Showcase · json-server Backend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76072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364992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126480" y="4206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153912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915400" y="4206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74C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942832" y="495604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= bekannte Defekte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E8C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Newman-verifiziert gegen json-server@0.17.4 · Soll-Assertions, Defekte bewusst rot · self-cleaning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Vorgehen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Ist-Verhalten real beobachtet – Assertions prüfen das Soll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002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554480" y="1581912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gestartet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1984248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json-server@0.17.4 als isolierte Instanz – identisch zur SUT-Version (Docker-pinned).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770632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706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554480" y="2752344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Empirisch beobachtet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Fall per curl gefahren: Statuscode, Header, Body, Fehlerverhalten.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941064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4106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3922776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Soll-Assertions geschrieben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4325112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pm.test prüft das korrekte Verhalten; Abweichungen als [DEFECT #n] markiert.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111496"/>
            <a:ext cx="658368" cy="6583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11149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554480" y="5093208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Verifiziert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5495544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Newman: 35 Requests / 81 Assertions / 9 rot = bekannte Defekte. Self-cleaning bestätigt.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086600" y="1600200"/>
            <a:ext cx="457200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18288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Abdeckung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60920" y="2286000"/>
            <a:ext cx="40690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/roads – Schema, Limitationen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 – Schema, Einzel-ID, 404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· Operatoren · Volltext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Sortierung · Pagination · Slice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 – Happy Path (self-clean)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 – Validierung &amp; Edge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 PATCH / DELETE /todos/:id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Fehler-Routen &amp; Methoden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Findings – Überblick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Schweregrad priorisiert · rechts: Status im Newman-Lauf ([DEFECT #n] = bewusst rot)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603504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554480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1554480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 PUT / PATCH /roads überschreiben bzw. verändern Straßendaten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092440" y="155448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 (destruktiv)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0104120" y="1700784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10104120" y="170078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Kritisch</a:t>
            </a:r>
            <a:endParaRPr lang="en-US" sz="1100" dirty="0"/>
          </a:p>
        </p:txBody>
      </p:sp>
      <p:sp>
        <p:nvSpPr>
          <p:cNvPr id="10" name="Shape 2"/>
          <p:cNvSpPr/>
          <p:nvPr/>
        </p:nvSpPr>
        <p:spPr>
          <a:xfrm>
            <a:off x="548640" y="2231136"/>
            <a:ext cx="11064240" cy="603504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11" name="Text 3"/>
          <p:cNvSpPr/>
          <p:nvPr/>
        </p:nvSpPr>
        <p:spPr>
          <a:xfrm>
            <a:off x="713232" y="2231136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4"/>
          <p:cNvSpPr/>
          <p:nvPr/>
        </p:nvSpPr>
        <p:spPr>
          <a:xfrm>
            <a:off x="1417320" y="223113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 ohne Eingabevalidierung (leer, Typ, road_fid-Bezug)</a:t>
            </a:r>
            <a:endParaRPr lang="en-US" sz="1550" dirty="0"/>
          </a:p>
        </p:txBody>
      </p:sp>
      <p:sp>
        <p:nvSpPr>
          <p:cNvPr id="13" name="Text 4"/>
          <p:cNvSpPr/>
          <p:nvPr/>
        </p:nvSpPr>
        <p:spPr>
          <a:xfrm>
            <a:off x="8092440" y="223113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rot (4×)</a:t>
            </a:r>
            <a:endParaRPr lang="en-US" sz="1100" dirty="0"/>
          </a:p>
        </p:txBody>
      </p:sp>
      <p:sp>
        <p:nvSpPr>
          <p:cNvPr id="14" name="Shape 5"/>
          <p:cNvSpPr/>
          <p:nvPr/>
        </p:nvSpPr>
        <p:spPr>
          <a:xfrm>
            <a:off x="10104120" y="237744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15" name="Text 6"/>
          <p:cNvSpPr/>
          <p:nvPr/>
        </p:nvSpPr>
        <p:spPr>
          <a:xfrm>
            <a:off x="10104120" y="237744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Hoch</a:t>
            </a:r>
            <a:endParaRPr lang="en-US" sz="1100" dirty="0"/>
          </a:p>
        </p:txBody>
      </p:sp>
      <p:sp>
        <p:nvSpPr>
          <p:cNvPr id="40" name="Shape 2"/>
          <p:cNvSpPr/>
          <p:nvPr/>
        </p:nvSpPr>
        <p:spPr>
          <a:xfrm>
            <a:off x="548640" y="2907792"/>
            <a:ext cx="11064240" cy="603504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41" name="Text 3"/>
          <p:cNvSpPr/>
          <p:nvPr/>
        </p:nvSpPr>
        <p:spPr>
          <a:xfrm>
            <a:off x="713232" y="2907792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7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2" name="Text 4"/>
          <p:cNvSpPr/>
          <p:nvPr/>
        </p:nvSpPr>
        <p:spPr>
          <a:xfrm>
            <a:off x="1417320" y="2907792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 PATCH /todos/:id ohne Validierung – PUT {} löscht alle Felder</a:t>
            </a:r>
            <a:endParaRPr lang="en-US" sz="1550" dirty="0"/>
          </a:p>
        </p:txBody>
      </p:sp>
      <p:sp>
        <p:nvSpPr>
          <p:cNvPr id="43" name="Text 4"/>
          <p:cNvSpPr/>
          <p:nvPr/>
        </p:nvSpPr>
        <p:spPr>
          <a:xfrm>
            <a:off x="8092440" y="2907792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rot (2×)</a:t>
            </a:r>
            <a:endParaRPr lang="en-US" sz="1100" dirty="0"/>
          </a:p>
        </p:txBody>
      </p:sp>
      <p:sp>
        <p:nvSpPr>
          <p:cNvPr id="44" name="Shape 5"/>
          <p:cNvSpPr/>
          <p:nvPr/>
        </p:nvSpPr>
        <p:spPr>
          <a:xfrm>
            <a:off x="10104120" y="3054096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45" name="Text 6"/>
          <p:cNvSpPr/>
          <p:nvPr/>
        </p:nvSpPr>
        <p:spPr>
          <a:xfrm>
            <a:off x="10104120" y="305409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Hoch</a:t>
            </a:r>
            <a:endParaRPr lang="en-US" sz="1100" dirty="0"/>
          </a:p>
        </p:txBody>
      </p:sp>
      <p:sp>
        <p:nvSpPr>
          <p:cNvPr id="16" name="Shape 2"/>
          <p:cNvSpPr/>
          <p:nvPr/>
        </p:nvSpPr>
        <p:spPr>
          <a:xfrm>
            <a:off x="548640" y="3584448"/>
            <a:ext cx="11064240" cy="603504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17" name="Text 3"/>
          <p:cNvSpPr/>
          <p:nvPr/>
        </p:nvSpPr>
        <p:spPr>
          <a:xfrm>
            <a:off x="713232" y="3584448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C4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4"/>
          <p:cNvSpPr/>
          <p:nvPr/>
        </p:nvSpPr>
        <p:spPr>
          <a:xfrm>
            <a:off x="1417320" y="3584448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Falscher Content-Type → Body still verworfen</a:t>
            </a:r>
            <a:endParaRPr lang="en-US" sz="1550" dirty="0"/>
          </a:p>
        </p:txBody>
      </p:sp>
      <p:sp>
        <p:nvSpPr>
          <p:cNvPr id="19" name="Text 4"/>
          <p:cNvSpPr/>
          <p:nvPr/>
        </p:nvSpPr>
        <p:spPr>
          <a:xfrm>
            <a:off x="8092440" y="3584448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rot</a:t>
            </a:r>
            <a:endParaRPr lang="en-US" sz="1100" dirty="0"/>
          </a:p>
        </p:txBody>
      </p:sp>
      <p:sp>
        <p:nvSpPr>
          <p:cNvPr id="20" name="Shape 5"/>
          <p:cNvSpPr/>
          <p:nvPr/>
        </p:nvSpPr>
        <p:spPr>
          <a:xfrm>
            <a:off x="10104120" y="373075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/>
        </p:spPr>
      </p:sp>
      <p:sp>
        <p:nvSpPr>
          <p:cNvPr id="21" name="Text 6"/>
          <p:cNvSpPr/>
          <p:nvPr/>
        </p:nvSpPr>
        <p:spPr>
          <a:xfrm>
            <a:off x="10104120" y="373075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</a:t>
            </a:r>
            <a:endParaRPr lang="en-US" sz="1100" dirty="0"/>
          </a:p>
        </p:txBody>
      </p:sp>
      <p:sp>
        <p:nvSpPr>
          <p:cNvPr id="22" name="Shape 2"/>
          <p:cNvSpPr/>
          <p:nvPr/>
        </p:nvSpPr>
        <p:spPr>
          <a:xfrm>
            <a:off x="548640" y="4261104"/>
            <a:ext cx="11064240" cy="603504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23" name="Text 3"/>
          <p:cNvSpPr/>
          <p:nvPr/>
        </p:nvSpPr>
        <p:spPr>
          <a:xfrm>
            <a:off x="713232" y="4261104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D6D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4"/>
          <p:cNvSpPr/>
          <p:nvPr/>
        </p:nvSpPr>
        <p:spPr>
          <a:xfrm>
            <a:off x="1417320" y="4261104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 PATCH / DELETE verfügbar, aber undokumentiert</a:t>
            </a:r>
            <a:endParaRPr lang="en-US" sz="1550" dirty="0"/>
          </a:p>
        </p:txBody>
      </p:sp>
      <p:sp>
        <p:nvSpPr>
          <p:cNvPr id="25" name="Text 4"/>
          <p:cNvSpPr/>
          <p:nvPr/>
        </p:nvSpPr>
        <p:spPr>
          <a:xfrm>
            <a:off x="8092440" y="4261104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Doku-Lücke · grün</a:t>
            </a:r>
            <a:endParaRPr lang="en-US" sz="1100" dirty="0"/>
          </a:p>
        </p:txBody>
      </p:sp>
      <p:sp>
        <p:nvSpPr>
          <p:cNvPr id="26" name="Shape 5"/>
          <p:cNvSpPr/>
          <p:nvPr/>
        </p:nvSpPr>
        <p:spPr>
          <a:xfrm>
            <a:off x="10104120" y="440740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27" name="Text 6"/>
          <p:cNvSpPr/>
          <p:nvPr/>
        </p:nvSpPr>
        <p:spPr>
          <a:xfrm>
            <a:off x="10104120" y="44074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</a:t>
            </a:r>
            <a:endParaRPr lang="en-US" sz="1100" dirty="0"/>
          </a:p>
        </p:txBody>
      </p:sp>
      <p:sp>
        <p:nvSpPr>
          <p:cNvPr id="28" name="Shape 2"/>
          <p:cNvSpPr/>
          <p:nvPr/>
        </p:nvSpPr>
        <p:spPr>
          <a:xfrm>
            <a:off x="548640" y="4937760"/>
            <a:ext cx="11064240" cy="603504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29" name="Text 3"/>
          <p:cNvSpPr/>
          <p:nvPr/>
        </p:nvSpPr>
        <p:spPr>
          <a:xfrm>
            <a:off x="713232" y="4937760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D6D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4"/>
          <p:cNvSpPr/>
          <p:nvPr/>
        </p:nvSpPr>
        <p:spPr>
          <a:xfrm>
            <a:off x="1417320" y="4937760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Schwache Fehlersemantik (500 statt 409, HTML statt JSON)</a:t>
            </a:r>
            <a:endParaRPr lang="en-US" sz="1550" dirty="0"/>
          </a:p>
        </p:txBody>
      </p:sp>
      <p:sp>
        <p:nvSpPr>
          <p:cNvPr id="31" name="Text 4"/>
          <p:cNvSpPr/>
          <p:nvPr/>
        </p:nvSpPr>
        <p:spPr>
          <a:xfrm>
            <a:off x="8092440" y="493776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rot (2×)</a:t>
            </a:r>
            <a:endParaRPr lang="en-US" sz="1100" dirty="0"/>
          </a:p>
        </p:txBody>
      </p:sp>
      <p:sp>
        <p:nvSpPr>
          <p:cNvPr id="32" name="Shape 5"/>
          <p:cNvSpPr/>
          <p:nvPr/>
        </p:nvSpPr>
        <p:spPr>
          <a:xfrm>
            <a:off x="10104120" y="5084064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33" name="Text 6"/>
          <p:cNvSpPr/>
          <p:nvPr/>
        </p:nvSpPr>
        <p:spPr>
          <a:xfrm>
            <a:off x="10104120" y="50840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</a:t>
            </a:r>
            <a:endParaRPr lang="en-US" sz="1100" dirty="0"/>
          </a:p>
        </p:txBody>
      </p:sp>
      <p:sp>
        <p:nvSpPr>
          <p:cNvPr id="34" name="Shape 2"/>
          <p:cNvSpPr/>
          <p:nvPr/>
        </p:nvSpPr>
        <p:spPr>
          <a:xfrm>
            <a:off x="548640" y="5614416"/>
            <a:ext cx="11064240" cy="603504"/>
          </a:xfrm>
          <a:prstGeom prst="roundRect">
            <a:avLst>
              <a:gd name="adj" fmla="val 83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35" name="Text 3"/>
          <p:cNvSpPr/>
          <p:nvPr/>
        </p:nvSpPr>
        <p:spPr>
          <a:xfrm>
            <a:off x="713232" y="5614416"/>
            <a:ext cx="548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D6D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Text 4"/>
          <p:cNvSpPr/>
          <p:nvPr/>
        </p:nvSpPr>
        <p:spPr>
          <a:xfrm>
            <a:off x="1417320" y="561441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/roads: Filter/Sort/Pagination wirkungslos</a:t>
            </a:r>
            <a:endParaRPr lang="en-US" sz="1550" dirty="0"/>
          </a:p>
        </p:txBody>
      </p:sp>
      <p:sp>
        <p:nvSpPr>
          <p:cNvPr id="37" name="Text 4"/>
          <p:cNvSpPr/>
          <p:nvPr/>
        </p:nvSpPr>
        <p:spPr>
          <a:xfrm>
            <a:off x="8092440" y="561441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Limitierung · grün</a:t>
            </a:r>
            <a:endParaRPr lang="en-US" sz="1100" dirty="0"/>
          </a:p>
        </p:txBody>
      </p:sp>
      <p:sp>
        <p:nvSpPr>
          <p:cNvPr id="38" name="Shape 5"/>
          <p:cNvSpPr/>
          <p:nvPr/>
        </p:nvSpPr>
        <p:spPr>
          <a:xfrm>
            <a:off x="10104120" y="576072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39" name="Text 6"/>
          <p:cNvSpPr/>
          <p:nvPr/>
        </p:nvSpPr>
        <p:spPr>
          <a:xfrm>
            <a:off x="10104120" y="57607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A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#1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10195560" y="50292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" name="Text 2"/>
          <p:cNvSpPr/>
          <p:nvPr/>
        </p:nvSpPr>
        <p:spPr>
          <a:xfrm>
            <a:off x="10195560" y="5029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KRITISCH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 / PUT /roads zerstören alle Straßendaten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22305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848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Erwartet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395728"/>
            <a:ext cx="5029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abgelehnt (read-only) – oder, falls Schreiben gewollt, EINE Straße angehängt (201)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96596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4A1F2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208483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19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Tatsächlich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395728"/>
            <a:ext cx="5029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201 / PUT 200 – FeatureCollection überschrieben, alle 773 Straßen weg. PATCH 200 – Felder hineingemischt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1B2340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3538728"/>
            <a:ext cx="107350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8CA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773 Straßen verschwinden mit einem einzigen Request: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-H 'Content-Type: application/json'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-d '{"x":1}' http://localhost:3000/roads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201 Created   →   GET /roads liefert danach nur noch {"x":1}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502920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 jeder Vertragsauslegung falsch: entweder ablehnen oder anhängen – niemals alles ersetzen. Kompletter Datenverlust bis API-Neustart, nicht per API wiederherstellbar – daher bewusst NICHT im automatischen Lauf. Auslösbar von jeder fremden Webseite: mit Content-Type: text/plain ist es ein Simple Request ohne Preflight – CORS schützt hier nicht.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#2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0" y="4572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Eingabevalidierung bei POST /todos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6583680" cy="1600200"/>
          </a:xfrm>
          <a:prstGeom prst="roundRect">
            <a:avLst>
              <a:gd name="adj" fmla="val 3429"/>
            </a:avLst>
          </a:prstGeom>
          <a:solidFill>
            <a:srgbClr val="1B2340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892808"/>
            <a:ext cx="625449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-H 'Content-Type: application/json'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-d '{}' http://localhost:3000/todos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201 Created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"id": 12 }        // kein title, kein road_fid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1783080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07808" y="19202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&amp; Test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07808" y="228600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{}, leerer title, road_fid "abc" – trotzdem 201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road_fid 999999 (Straße fehlt) – trotzdem 201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[DEFECT #2]: Soll 400 / 422 → 4 Tests rot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es zählt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416052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Anforderung Punkt 7 verlangt Todos mit road_fid-Bezug zur Straße – die DB erzwingt das nicht.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Verwaiste Maßnahmen ohne Straßenbezug landen dauerhaft in der Datenbank.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echte API sollte hier mit 400 Bad Request ablehnen.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#3 &amp; #4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Content-Type-Handling und undokumentierte Endpunkte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1C40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Content-Type verwirft Body still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77240" y="2880360"/>
            <a:ext cx="5029200" cy="1371600"/>
          </a:xfrm>
          <a:prstGeom prst="roundRect">
            <a:avLst>
              <a:gd name="adj" fmla="val 4000"/>
            </a:avLst>
          </a:prstGeom>
          <a:solidFill>
            <a:srgbClr val="1B2340"/>
          </a:solidFill>
          <a:ln/>
        </p:spPr>
      </p:sp>
      <p:sp>
        <p:nvSpPr>
          <p:cNvPr id="9" name="Text 7"/>
          <p:cNvSpPr/>
          <p:nvPr/>
        </p:nvSpPr>
        <p:spPr>
          <a:xfrm>
            <a:off x="941832" y="2990088"/>
            <a:ext cx="47000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text/plain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"title":"x", "road_fid":42 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201 Created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{ "id": 15 }  // Body weg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4434840"/>
            <a:ext cx="5029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wird stillschweigend ignoriert, leerer Datensatz entsteht.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Erwartet: 415 oder 400. [DEFECT #3] → Test rot.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09360" y="160020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8288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1828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37960" y="22860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Undokumentierte Schreib-Methoden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37960" y="2926080"/>
            <a:ext cx="48463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/todos/:id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4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– ersetzt Datensatz vollständig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/todos/:id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4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– partielles Update (merge)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/todos/:id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4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– löscht Datensatz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51206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 nennt nur GET / POST – die Todos-Seite des Frontends hängt aber an diesen undokumentierten Endpunkten. Mit gültigem Body korrekt → Tests grün; fehlende Validierung siehe #7.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#5 &amp; #6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Ressourcen-Limitierung und Fehlersemantik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2860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/roads nicht filter-/sortierbar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50292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/roads ist ein Objekt (FeatureCollection), keine Array-Ressource.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?_page / _limit / _sort / Filter → wirkungslos, immer volle 2,3 MB.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X-Total-Count. GET /roads/:id → 404.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Folge: Frontend lädt jedes Mal alle Straßen komplett.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60020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8288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5D6D7E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28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37960" y="22860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Schwache Fehlersemantik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37960" y="283464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Doppelte id → 500 „duplicate id" statt 409 Conflict.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Kaputtes JSON → 400 als HTML-Fehlerseite (nicht JSON) – Client kann es kaum parsen.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[DEFECT #5]: Soll 409 bzw. JSON-Fehler → 2 Tests rot.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funktioniert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Positiv-Belege je Endpunkt, per Newman verifiziert · Filter, Sortierung &amp; Pagination gelten nur für /todos (nicht /roads, #6)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4767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47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1109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/roads – Lesen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737360" y="229514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200, gültige FeatureCollection mit allen 773 Straßen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94767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47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360920" y="191109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 – Filter &amp; Suche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360920" y="229514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?status=, ?road_fid=, _gte, _like, Volltext ?q= – exakt &amp; korrekt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15468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41071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107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737360" y="337413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/todos – Sortierung &amp; Pagination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737360" y="375818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_sort / _order, _page / _limit mit X-Total-Count &amp; Link, _start / _end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315468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41071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34107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360920" y="337413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/todos – Anlegen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360920" y="375818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201, Location-Header, Auto-Increment-ID; danach per GET lesbar, per DELETE löschbar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61772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7240" y="487375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87375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737360" y="483717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 PATCH / DELETE /todos/:id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737360" y="522122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gültigem Body korrekt: ersetzen, teilweise ändern, löschen (undokumentiert, #4)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172200" y="461772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AF7EF"/>
          </a:solidFill>
          <a:ln w="12700">
            <a:solidFill>
              <a:srgbClr val="C6E9D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873752"/>
            <a:ext cx="777240" cy="7772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87375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7360920" y="483717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für Unbekanntes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360920" y="5221224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/nonexistent, /todos/999999, gelöschte ID; PUT /todos/888888 legt nichts an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Fazit – vor dem Go-Live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json-server ist ein Prototyp-Backend – für Produktion fehlen zentrale Garantien.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D2A5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76856"/>
            <a:ext cx="292608" cy="29260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075688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Zugriff absichern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394960" y="1965960"/>
            <a:ext cx="6126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 PUT / PATCH auf /roads sperren; CORS auf App-Origin begrenzen (#1).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D2A57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3328416"/>
            <a:ext cx="292608" cy="292608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3127248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Eingaben validieren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394960" y="3017520"/>
            <a:ext cx="6126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Pflichtfelder, Typen &amp; road_fid-Bezug prüfen – auch bei PUT / PATCH (#2, #3, #7).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4069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D2A57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4379976"/>
            <a:ext cx="292608" cy="292608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4178808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API-Vertrag klären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94960" y="4069080"/>
            <a:ext cx="6126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Methoden dokumentieren, saubere Statuscodes (#4, #5).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D2A57"/>
          </a:solidFill>
          <a:ln/>
        </p:spPr>
      </p:sp>
      <p:sp>
        <p:nvSpPr>
          <p:cNvPr id="17" name="Shape 15"/>
          <p:cNvSpPr/>
          <p:nvPr/>
        </p:nvSpPr>
        <p:spPr>
          <a:xfrm>
            <a:off x="868680" y="5431536"/>
            <a:ext cx="292608" cy="292608"/>
          </a:xfrm>
          <a:prstGeom prst="ellipse">
            <a:avLst/>
          </a:prstGeom>
          <a:solidFill>
            <a:srgbClr val="5D6D7E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0" y="5230368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Skalierung bedenken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94960" y="5120640"/>
            <a:ext cx="6126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Serverseitige Filterung statt Voll-Download von /roads (#6).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#7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10241280" y="4572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0" y="4572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Validierung bei PUT / PATCH /todos/:id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6583680" cy="1600200"/>
          </a:xfrm>
          <a:prstGeom prst="roundRect">
            <a:avLst>
              <a:gd name="adj" fmla="val 3429"/>
            </a:avLst>
          </a:prstGeom>
          <a:solidFill>
            <a:srgbClr val="1B2340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892808"/>
            <a:ext cx="625449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PUT -H 'Content-Type: application/json'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-d '{}' http://localhost:3000/todos/2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200 OK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8E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"id": 2 }         // title, status, road_fid weg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406640" y="1783080"/>
            <a:ext cx="4206240" cy="1600200"/>
          </a:xfrm>
          <a:prstGeom prst="roundRect">
            <a:avLst>
              <a:gd name="adj" fmla="val 4571"/>
            </a:avLst>
          </a:prstGeom>
          <a:solidFill>
            <a:srgbClr val="F4F6FC"/>
          </a:solidFill>
          <a:ln w="12700">
            <a:solidFill>
              <a:srgbClr val="E3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07808" y="19202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&amp; Test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607808" y="228600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{} → 200, Todo nur noch {"id": 2}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title "" → 200, leerer Titel gespeichert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[DEFECT #7]: Soll 400 → 2 Tests rot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es zählt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416052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Todos-Seite des Frontends speichert Änderungen per PUT – ein fehlerhafter Request löscht die Maßnahme still.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 Lücke wie #2, nur beim Ändern: Pflichtfelder gelten nach dem Anlegen nicht mehr.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B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echte API sollte ungültige Updates mit 400 Bad Request ablehnen.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2026-09-14T17:23:38Z</dcterms:created>
  <dcterms:modified xsi:type="dcterms:W3CDTF">2026-09-14T17:23:38Z</dcterms:modified>
</cp:coreProperties>
</file>